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39"/>
  </p:normalViewPr>
  <p:slideViewPr>
    <p:cSldViewPr snapToGrid="0" snapToObjects="1">
      <p:cViewPr varScale="1">
        <p:scale>
          <a:sx n="138" d="100"/>
          <a:sy n="138" d="100"/>
        </p:scale>
        <p:origin x="616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438912"/>
            <a:ext cx="11018520" cy="56692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2800" b="1">
                <a:solidFill>
                  <a:srgbClr val="142A43"/>
                </a:solidFill>
                <a:latin typeface="Arial"/>
              </a:rPr>
              <a:t>Why separate “who” from “what”?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1115568"/>
            <a:ext cx="10040112" cy="7132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700" b="0">
                <a:solidFill>
                  <a:srgbClr val="5B6774"/>
                </a:solidFill>
                <a:latin typeface="Arial"/>
              </a:rPr>
              <a:t>We want to show that separating identity resolution from source-data modeling
creates a more flexible and maintainable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48840"/>
            <a:ext cx="4370832" cy="2523744"/>
          </a:xfrm>
          <a:prstGeom prst="roundRect">
            <a:avLst>
              <a:gd name="adj" fmla="val 7000"/>
            </a:avLst>
          </a:prstGeom>
          <a:solidFill>
            <a:srgbClr val="E2F6F2"/>
          </a:solidFill>
          <a:ln w="15875">
            <a:solidFill>
              <a:srgbClr val="15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2450592"/>
            <a:ext cx="3730752" cy="4023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2500" b="1">
                <a:solidFill>
                  <a:srgbClr val="158980"/>
                </a:solidFill>
                <a:latin typeface="Arial"/>
              </a:rPr>
              <a:t>WHO?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926080"/>
            <a:ext cx="3730752" cy="3200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700" b="1">
                <a:solidFill>
                  <a:srgbClr val="142A43"/>
                </a:solidFill>
                <a:latin typeface="Arial"/>
              </a:rPr>
              <a:t>ID Resolver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3447288"/>
            <a:ext cx="3493008" cy="6400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600" b="0">
                <a:solidFill>
                  <a:srgbClr val="252D36"/>
                </a:solidFill>
                <a:latin typeface="Arial"/>
              </a:rPr>
              <a:t>Which source records refer to
the same real-world entity?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45336" y="4160520"/>
            <a:ext cx="3108960" cy="3108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5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82496" y="4215384"/>
            <a:ext cx="2834640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50" b="1">
                <a:solidFill>
                  <a:srgbClr val="158980"/>
                </a:solidFill>
                <a:latin typeface="Arial"/>
              </a:rPr>
              <a:t>Maps source IDs → preferred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148840"/>
            <a:ext cx="4370832" cy="2523744"/>
          </a:xfrm>
          <a:prstGeom prst="roundRect">
            <a:avLst>
              <a:gd name="adj" fmla="val 7000"/>
            </a:avLst>
          </a:prstGeom>
          <a:solidFill>
            <a:srgbClr val="E7F1F9"/>
          </a:solidFill>
          <a:ln w="15875">
            <a:solidFill>
              <a:srgbClr val="27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0" y="2450592"/>
            <a:ext cx="3730752" cy="4023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2500" b="1">
                <a:solidFill>
                  <a:srgbClr val="2770AE"/>
                </a:solidFill>
                <a:latin typeface="Arial"/>
              </a:rPr>
              <a:t>WHAT?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926080"/>
            <a:ext cx="3730752" cy="3200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700" b="1">
                <a:solidFill>
                  <a:srgbClr val="142A43"/>
                </a:solidFill>
                <a:latin typeface="Arial"/>
              </a:rPr>
              <a:t>Source Adapter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2631" y="3447288"/>
            <a:ext cx="3493008" cy="6400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600" b="0">
                <a:solidFill>
                  <a:srgbClr val="252D36"/>
                </a:solidFill>
                <a:latin typeface="Arial"/>
              </a:rPr>
              <a:t>What fields and relationships does
this source contribute to the graph?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34656" y="4160520"/>
            <a:ext cx="3108960" cy="3108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27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71816" y="4215384"/>
            <a:ext cx="2834640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50" b="1" dirty="0">
                <a:solidFill>
                  <a:srgbClr val="2770AE"/>
                </a:solidFill>
                <a:latin typeface="Arial"/>
              </a:rPr>
              <a:t>Maps source payload → ODIN model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49824" y="3410712"/>
            <a:ext cx="1289304" cy="0"/>
          </a:xfrm>
          <a:prstGeom prst="line">
            <a:avLst/>
          </a:prstGeom>
          <a:ln w="26670">
            <a:solidFill>
              <a:srgbClr val="5B6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95544" y="2880360"/>
            <a:ext cx="1188720" cy="4572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5B6774"/>
                </a:solidFill>
                <a:latin typeface="Arial"/>
              </a:rPr>
              <a:t>independent,
composable roles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129784"/>
            <a:ext cx="10360152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4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5294376"/>
            <a:ext cx="2962656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300" b="1">
                <a:solidFill>
                  <a:srgbClr val="142A43"/>
                </a:solidFill>
                <a:latin typeface="Arial"/>
              </a:rPr>
              <a:t>When these responsibilities stay separate: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5285232"/>
            <a:ext cx="2194560" cy="3931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20" b="1">
                <a:solidFill>
                  <a:srgbClr val="794B9C"/>
                </a:solidFill>
                <a:latin typeface="Arial"/>
              </a:rPr>
              <a:t>Change source fields without rebuilding identity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285232"/>
            <a:ext cx="2084831" cy="3931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20" b="1">
                <a:solidFill>
                  <a:srgbClr val="158980"/>
                </a:solidFill>
                <a:latin typeface="Arial"/>
              </a:rPr>
              <a:t>Reuse the same identities across different graphs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5285232"/>
            <a:ext cx="2249424" cy="3931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20" b="1">
                <a:solidFill>
                  <a:srgbClr val="2770AE"/>
                </a:solidFill>
                <a:latin typeface="Arial"/>
              </a:rPr>
              <a:t>Preserve source-level evidence and auditability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6355080"/>
            <a:ext cx="10076688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50" b="1">
                <a:solidFill>
                  <a:srgbClr val="142A43"/>
                </a:solidFill>
                <a:latin typeface="Arial"/>
              </a:rPr>
              <a:t>The following examples show the boundary working well—and what happens when it is collapsed.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283038"/>
            <a:ext cx="11228832" cy="40318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500" b="1" dirty="0">
                <a:solidFill>
                  <a:srgbClr val="142A43"/>
                </a:solidFill>
                <a:latin typeface="Arial"/>
              </a:rPr>
              <a:t>Two source records become one drug—</a:t>
            </a:r>
            <a:r>
              <a:rPr lang="en-US" sz="2500" b="1" dirty="0">
                <a:solidFill>
                  <a:srgbClr val="142A43"/>
                </a:solidFill>
                <a:latin typeface="Arial"/>
              </a:rPr>
              <a:t>with a complete </a:t>
            </a:r>
            <a:r>
              <a:rPr sz="2500" b="1" dirty="0">
                <a:solidFill>
                  <a:srgbClr val="142A43"/>
                </a:solidFill>
                <a:latin typeface="Arial"/>
              </a:rPr>
              <a:t>audit trail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1106424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300" b="0">
                <a:solidFill>
                  <a:srgbClr val="5B6774"/>
                </a:solidFill>
                <a:latin typeface="Arial"/>
              </a:rPr>
              <a:t>Adapters decide what each source contributes. The ID resolver determines that both records describe the same entity.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841248" cy="36576"/>
          </a:xfrm>
          <a:prstGeom prst="rect">
            <a:avLst/>
          </a:prstGeom>
          <a:solidFill>
            <a:srgbClr val="15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444752"/>
            <a:ext cx="1993392" cy="1719072"/>
          </a:xfrm>
          <a:prstGeom prst="roundRect">
            <a:avLst>
              <a:gd name="adj" fmla="val 7000"/>
            </a:avLst>
          </a:prstGeom>
          <a:solidFill>
            <a:srgbClr val="E7F1F9"/>
          </a:solidFill>
          <a:ln w="15875">
            <a:solidFill>
              <a:srgbClr val="27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1563624"/>
            <a:ext cx="1700784" cy="3840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2770AE"/>
                </a:solidFill>
                <a:latin typeface="Arial"/>
              </a:rPr>
              <a:t>DATA SOURCE A · DrugCentral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02536"/>
            <a:ext cx="1536192" cy="22860"/>
          </a:xfrm>
          <a:prstGeom prst="rect">
            <a:avLst/>
          </a:prstGeom>
          <a:solidFill>
            <a:srgbClr val="277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784" y="2130552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40" b="1">
                <a:solidFill>
                  <a:srgbClr val="5B6774"/>
                </a:solidFill>
                <a:latin typeface="Arial"/>
              </a:rP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1" y="2151861"/>
            <a:ext cx="1133855" cy="16312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40" b="0">
                <a:solidFill>
                  <a:srgbClr val="2770AE"/>
                </a:solidFill>
                <a:latin typeface="Arial"/>
              </a:rPr>
              <a:t>DrugCentral:DC123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414016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50" b="1">
                <a:solidFill>
                  <a:srgbClr val="5B6774"/>
                </a:solidFill>
                <a:latin typeface="Arial"/>
              </a:rP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2414016"/>
            <a:ext cx="1042416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50" b="0">
                <a:solidFill>
                  <a:srgbClr val="2770AE"/>
                </a:solidFill>
                <a:latin typeface="Arial"/>
              </a:rPr>
              <a:t>Example Drug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697480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50" b="1">
                <a:solidFill>
                  <a:srgbClr val="5B6774"/>
                </a:solidFill>
                <a:latin typeface="Arial"/>
              </a:rP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697480"/>
            <a:ext cx="1042416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50" b="0">
                <a:solidFill>
                  <a:srgbClr val="2770AE"/>
                </a:solidFill>
                <a:latin typeface="Arial"/>
              </a:rPr>
              <a:t>approved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06624" y="1609344"/>
            <a:ext cx="1335024" cy="1389888"/>
          </a:xfrm>
          <a:prstGeom prst="roundRect">
            <a:avLst>
              <a:gd name="adj" fmla="val 7000"/>
            </a:avLst>
          </a:prstGeom>
          <a:solidFill>
            <a:srgbClr val="E7F1F9"/>
          </a:solidFill>
          <a:ln w="15875">
            <a:solidFill>
              <a:srgbClr val="27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98064" y="1755648"/>
            <a:ext cx="1152144" cy="4572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770AE"/>
                </a:solidFill>
                <a:latin typeface="Arial"/>
              </a:rPr>
              <a:t>DrugCentral
Adapter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2276856"/>
            <a:ext cx="1115568" cy="53035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0">
                <a:solidFill>
                  <a:srgbClr val="252D36"/>
                </a:solidFill>
                <a:latin typeface="Arial"/>
              </a:rPr>
              <a:t>maps source
columns into
Ligand fields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1444752"/>
            <a:ext cx="1874519" cy="1719072"/>
          </a:xfrm>
          <a:prstGeom prst="roundRect">
            <a:avLst>
              <a:gd name="adj" fmla="val 7000"/>
            </a:avLst>
          </a:prstGeom>
          <a:solidFill>
            <a:srgbClr val="E7F1F9"/>
          </a:solidFill>
          <a:ln w="15875">
            <a:solidFill>
              <a:srgbClr val="27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71416" y="1563624"/>
            <a:ext cx="16002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 dirty="0">
                <a:solidFill>
                  <a:srgbClr val="2770AE"/>
                </a:solidFill>
                <a:latin typeface="Arial"/>
              </a:rPr>
              <a:t>ODIN Ligand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1993392"/>
            <a:ext cx="1618488" cy="23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70" b="0">
                <a:solidFill>
                  <a:srgbClr val="252D36"/>
                </a:solidFill>
                <a:latin typeface="Arial"/>
              </a:rPr>
              <a:t>id = DrugCentral:DC123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286000"/>
            <a:ext cx="1618488" cy="23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70" b="0">
                <a:solidFill>
                  <a:srgbClr val="252D36"/>
                </a:solidFill>
                <a:latin typeface="Arial"/>
              </a:rPr>
              <a:t>name = Example Drug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2578608"/>
            <a:ext cx="1618488" cy="23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70" b="0">
                <a:solidFill>
                  <a:srgbClr val="252D36"/>
                </a:solidFill>
                <a:latin typeface="Arial"/>
              </a:rPr>
              <a:t>isDrug = true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41648"/>
            <a:ext cx="1993392" cy="1719072"/>
          </a:xfrm>
          <a:prstGeom prst="roundRect">
            <a:avLst>
              <a:gd name="adj" fmla="val 7000"/>
            </a:avLst>
          </a:prstGeom>
          <a:solidFill>
            <a:srgbClr val="F2EBF7"/>
          </a:solidFill>
          <a:ln w="15875">
            <a:solidFill>
              <a:srgbClr val="794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784" y="4160520"/>
            <a:ext cx="1700784" cy="3840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794B9C"/>
                </a:solidFill>
                <a:latin typeface="Arial"/>
              </a:rPr>
              <a:t>DATA SOURCE B · ChEMBL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599432"/>
            <a:ext cx="1536192" cy="22860"/>
          </a:xfrm>
          <a:prstGeom prst="rect">
            <a:avLst/>
          </a:prstGeom>
          <a:solidFill>
            <a:srgbClr val="794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7784" y="4727448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40" b="1">
                <a:solidFill>
                  <a:srgbClr val="5B6774"/>
                </a:solidFill>
                <a:latin typeface="Arial"/>
              </a:rPr>
              <a:t>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463" y="4741899"/>
            <a:ext cx="1320105" cy="16312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40" b="0" dirty="0">
                <a:solidFill>
                  <a:srgbClr val="794B9C"/>
                </a:solidFill>
                <a:latin typeface="Arial"/>
              </a:rPr>
              <a:t>ChEMBL:CHEMBL456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" y="5010912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50" b="1">
                <a:solidFill>
                  <a:srgbClr val="5B6774"/>
                </a:solidFill>
                <a:latin typeface="Arial"/>
              </a:rPr>
              <a:t>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5010912"/>
            <a:ext cx="1042416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50" b="0">
                <a:solidFill>
                  <a:srgbClr val="794B9C"/>
                </a:solidFill>
                <a:latin typeface="Arial"/>
              </a:rPr>
              <a:t>Example Drug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" y="5294376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50" b="1">
                <a:solidFill>
                  <a:srgbClr val="5B6774"/>
                </a:solidFill>
                <a:latin typeface="Arial"/>
              </a:rPr>
              <a:t>phase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5294376"/>
            <a:ext cx="1042416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50" b="0">
                <a:solidFill>
                  <a:srgbClr val="794B9C"/>
                </a:solidFill>
                <a:latin typeface="Arial"/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06624" y="4206240"/>
            <a:ext cx="1335024" cy="1389888"/>
          </a:xfrm>
          <a:prstGeom prst="roundRect">
            <a:avLst>
              <a:gd name="adj" fmla="val 7000"/>
            </a:avLst>
          </a:prstGeom>
          <a:solidFill>
            <a:srgbClr val="F2EBF7"/>
          </a:solidFill>
          <a:ln w="15875">
            <a:solidFill>
              <a:srgbClr val="794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98064" y="4352544"/>
            <a:ext cx="1152144" cy="4572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794B9C"/>
                </a:solidFill>
                <a:latin typeface="Arial"/>
              </a:rPr>
              <a:t>ChEMBL
Adapter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16352" y="4873752"/>
            <a:ext cx="1115568" cy="53035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0">
                <a:solidFill>
                  <a:srgbClr val="252D36"/>
                </a:solidFill>
                <a:latin typeface="Arial"/>
              </a:rPr>
              <a:t>maps source
columns into
Ligand fields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4256" y="4041648"/>
            <a:ext cx="1874519" cy="1719072"/>
          </a:xfrm>
          <a:prstGeom prst="roundRect">
            <a:avLst>
              <a:gd name="adj" fmla="val 7000"/>
            </a:avLst>
          </a:prstGeom>
          <a:solidFill>
            <a:srgbClr val="F2EBF7"/>
          </a:solidFill>
          <a:ln w="15875">
            <a:solidFill>
              <a:srgbClr val="794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71416" y="4160520"/>
            <a:ext cx="16002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 dirty="0">
                <a:solidFill>
                  <a:srgbClr val="794B9C"/>
                </a:solidFill>
                <a:latin typeface="Arial"/>
              </a:rPr>
              <a:t>ODIN Ligand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2271" y="4599308"/>
            <a:ext cx="1783079" cy="18312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70" b="0" dirty="0">
                <a:solidFill>
                  <a:srgbClr val="252D36"/>
                </a:solidFill>
                <a:latin typeface="Arial"/>
              </a:rPr>
              <a:t>id = ChEMBL:CHEMBL456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2272" y="4882896"/>
            <a:ext cx="1618488" cy="23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70" b="0">
                <a:solidFill>
                  <a:srgbClr val="252D36"/>
                </a:solidFill>
                <a:latin typeface="Arial"/>
              </a:rPr>
              <a:t>name = Example Drug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2272" y="5175503"/>
            <a:ext cx="1618488" cy="23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70" b="0">
                <a:solidFill>
                  <a:srgbClr val="252D36"/>
                </a:solidFill>
                <a:latin typeface="Arial"/>
              </a:rPr>
              <a:t>max_phase = 4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441448" y="2304288"/>
            <a:ext cx="228600" cy="0"/>
          </a:xfrm>
          <a:prstGeom prst="line">
            <a:avLst/>
          </a:prstGeom>
          <a:ln w="30480">
            <a:solidFill>
              <a:srgbClr val="277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59936" y="2304288"/>
            <a:ext cx="237744" cy="0"/>
          </a:xfrm>
          <a:prstGeom prst="line">
            <a:avLst/>
          </a:prstGeom>
          <a:ln w="30480">
            <a:solidFill>
              <a:srgbClr val="277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441448" y="4901184"/>
            <a:ext cx="228600" cy="0"/>
          </a:xfrm>
          <a:prstGeom prst="line">
            <a:avLst/>
          </a:prstGeom>
          <a:ln w="30480">
            <a:solidFill>
              <a:srgbClr val="794B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59936" y="4901184"/>
            <a:ext cx="237744" cy="0"/>
          </a:xfrm>
          <a:prstGeom prst="line">
            <a:avLst/>
          </a:prstGeom>
          <a:ln w="30480">
            <a:solidFill>
              <a:srgbClr val="794B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565392" y="2011680"/>
            <a:ext cx="1664208" cy="3081528"/>
          </a:xfrm>
          <a:prstGeom prst="roundRect">
            <a:avLst>
              <a:gd name="adj" fmla="val 7000"/>
            </a:avLst>
          </a:prstGeom>
          <a:solidFill>
            <a:srgbClr val="E2F6F2"/>
          </a:solidFill>
          <a:ln w="15875">
            <a:solidFill>
              <a:srgbClr val="15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29984" y="2212848"/>
            <a:ext cx="1335024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500" b="1">
                <a:solidFill>
                  <a:srgbClr val="158980"/>
                </a:solidFill>
                <a:latin typeface="Arial"/>
              </a:rPr>
              <a:t>ID RESOLVER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26664"/>
            <a:ext cx="1353312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30" b="1">
                <a:solidFill>
                  <a:srgbClr val="2770AE"/>
                </a:solidFill>
                <a:latin typeface="Arial"/>
              </a:rPr>
              <a:t>DrugCentral:DC123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14032" y="3328416"/>
            <a:ext cx="548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600" b="1">
                <a:solidFill>
                  <a:srgbClr val="158980"/>
                </a:solidFill>
                <a:latin typeface="Arial"/>
              </a:rPr>
              <a:t>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66560" y="3639312"/>
            <a:ext cx="1261872" cy="5303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5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39712" y="3767328"/>
            <a:ext cx="1115568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158980"/>
                </a:solidFill>
                <a:latin typeface="Arial"/>
              </a:rPr>
              <a:t>IFXDrug:000042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4032" y="4233672"/>
            <a:ext cx="54864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600" b="1">
                <a:solidFill>
                  <a:srgbClr val="158980"/>
                </a:solidFill>
                <a:latin typeface="Arial"/>
              </a:rPr>
              <a:t>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84264" y="4535424"/>
            <a:ext cx="1426464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10" b="1">
                <a:solidFill>
                  <a:srgbClr val="794B9C"/>
                </a:solidFill>
                <a:latin typeface="Arial"/>
              </a:rPr>
              <a:t>ChEMBL:CHEMBL456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39128" y="4828032"/>
            <a:ext cx="1316736" cy="1645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30" b="0">
                <a:solidFill>
                  <a:srgbClr val="5B6774"/>
                </a:solidFill>
                <a:latin typeface="Arial"/>
              </a:rPr>
              <a:t>same preferred ID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236208" y="2304288"/>
            <a:ext cx="292608" cy="914400"/>
          </a:xfrm>
          <a:prstGeom prst="line">
            <a:avLst/>
          </a:prstGeom>
          <a:ln w="30480">
            <a:solidFill>
              <a:srgbClr val="277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236208" y="4462272"/>
            <a:ext cx="292608" cy="438912"/>
          </a:xfrm>
          <a:prstGeom prst="line">
            <a:avLst/>
          </a:prstGeom>
          <a:ln w="30480">
            <a:solidFill>
              <a:srgbClr val="794B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Hexagon 54"/>
          <p:cNvSpPr/>
          <p:nvPr/>
        </p:nvSpPr>
        <p:spPr>
          <a:xfrm>
            <a:off x="8458200" y="3136392"/>
            <a:ext cx="749808" cy="868680"/>
          </a:xfrm>
          <a:prstGeom prst="hexagon">
            <a:avLst/>
          </a:prstGeom>
          <a:solidFill>
            <a:srgbClr val="FDF4E0"/>
          </a:solidFill>
          <a:ln w="17780">
            <a:solidFill>
              <a:srgbClr val="DD9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40496" y="3374136"/>
            <a:ext cx="585216" cy="23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DD992A"/>
                </a:solidFill>
                <a:latin typeface="Arial"/>
              </a:rPr>
              <a:t>MERGE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266175" y="3575304"/>
            <a:ext cx="155449" cy="0"/>
          </a:xfrm>
          <a:prstGeom prst="line">
            <a:avLst/>
          </a:prstGeom>
          <a:ln w="30480">
            <a:solidFill>
              <a:srgbClr val="15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9418320" y="1499616"/>
            <a:ext cx="2359152" cy="4315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4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01200" y="1700784"/>
            <a:ext cx="1993392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500" b="1">
                <a:solidFill>
                  <a:srgbClr val="142A43"/>
                </a:solidFill>
                <a:latin typeface="Arial"/>
              </a:rPr>
              <a:t>CANONICAL DRUG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0" y="2057400"/>
            <a:ext cx="1993392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50" b="1">
                <a:solidFill>
                  <a:srgbClr val="158980"/>
                </a:solidFill>
                <a:latin typeface="Arial"/>
              </a:rPr>
              <a:t>IFXDrug:000042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10928" y="2432304"/>
            <a:ext cx="1773936" cy="22860"/>
          </a:xfrm>
          <a:prstGeom prst="rect">
            <a:avLst/>
          </a:prstGeom>
          <a:solidFill>
            <a:srgbClr val="C3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19488" y="2596896"/>
            <a:ext cx="521207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5B6774"/>
                </a:solidFill>
                <a:latin typeface="Arial"/>
              </a:rPr>
              <a:t>name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58984" y="2596896"/>
            <a:ext cx="1298448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0">
                <a:solidFill>
                  <a:srgbClr val="252D36"/>
                </a:solidFill>
                <a:latin typeface="Arial"/>
              </a:rPr>
              <a:t>Example Drug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637776" y="2880360"/>
            <a:ext cx="768096" cy="228600"/>
          </a:xfrm>
          <a:prstGeom prst="roundRect">
            <a:avLst>
              <a:gd name="adj" fmla="val 18000"/>
            </a:avLst>
          </a:prstGeom>
          <a:solidFill>
            <a:srgbClr val="2770AE"/>
          </a:solidFill>
          <a:ln w="15875">
            <a:solidFill>
              <a:srgbClr val="27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74351" y="2894076"/>
            <a:ext cx="694944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DrugCentral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479024" y="2880360"/>
            <a:ext cx="603504" cy="228600"/>
          </a:xfrm>
          <a:prstGeom prst="roundRect">
            <a:avLst>
              <a:gd name="adj" fmla="val 18000"/>
            </a:avLst>
          </a:prstGeom>
          <a:solidFill>
            <a:srgbClr val="794B9C"/>
          </a:solidFill>
          <a:ln w="15875">
            <a:solidFill>
              <a:srgbClr val="794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515600" y="2894076"/>
            <a:ext cx="530352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ChEMBL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19488" y="3273552"/>
            <a:ext cx="521207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5B6774"/>
                </a:solidFill>
                <a:latin typeface="Arial"/>
              </a:rPr>
              <a:t>isDrug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58984" y="3273552"/>
            <a:ext cx="1298448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0">
                <a:solidFill>
                  <a:srgbClr val="252D36"/>
                </a:solidFill>
                <a:latin typeface="Arial"/>
              </a:rPr>
              <a:t>true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637776" y="3557016"/>
            <a:ext cx="768096" cy="228600"/>
          </a:xfrm>
          <a:prstGeom prst="roundRect">
            <a:avLst>
              <a:gd name="adj" fmla="val 18000"/>
            </a:avLst>
          </a:prstGeom>
          <a:solidFill>
            <a:srgbClr val="2770AE"/>
          </a:solidFill>
          <a:ln w="15875">
            <a:solidFill>
              <a:srgbClr val="27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674351" y="3570732"/>
            <a:ext cx="694944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DrugCentral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19488" y="3950208"/>
            <a:ext cx="667512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5B6774"/>
                </a:solidFill>
                <a:latin typeface="Arial"/>
              </a:rPr>
              <a:t>max phase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14432" y="3950208"/>
            <a:ext cx="114300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0">
                <a:solidFill>
                  <a:srgbClr val="252D36"/>
                </a:solidFill>
                <a:latin typeface="Arial"/>
              </a:rPr>
              <a:t>4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637776" y="4233672"/>
            <a:ext cx="603504" cy="228600"/>
          </a:xfrm>
          <a:prstGeom prst="roundRect">
            <a:avLst>
              <a:gd name="adj" fmla="val 18000"/>
            </a:avLst>
          </a:prstGeom>
          <a:solidFill>
            <a:srgbClr val="794B9C"/>
          </a:solidFill>
          <a:ln w="15875">
            <a:solidFill>
              <a:srgbClr val="794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674351" y="4247388"/>
            <a:ext cx="530352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ChEMBL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19488" y="4645152"/>
            <a:ext cx="987552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5B6774"/>
                </a:solidFill>
                <a:latin typeface="Arial"/>
              </a:rPr>
              <a:t>equivalent IDs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19488" y="4919472"/>
            <a:ext cx="1810512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252D36"/>
                </a:solidFill>
                <a:latin typeface="Arial"/>
              </a:rPr>
              <a:t>DC123 · CHEMBL456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637776" y="5212080"/>
            <a:ext cx="603504" cy="228600"/>
          </a:xfrm>
          <a:prstGeom prst="roundRect">
            <a:avLst>
              <a:gd name="adj" fmla="val 18000"/>
            </a:avLst>
          </a:prstGeom>
          <a:solidFill>
            <a:srgbClr val="158980"/>
          </a:solidFill>
          <a:ln w="15875">
            <a:solidFill>
              <a:srgbClr val="15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674351" y="5225796"/>
            <a:ext cx="530352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resolver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9235440" y="3575304"/>
            <a:ext cx="146304" cy="0"/>
          </a:xfrm>
          <a:prstGeom prst="line">
            <a:avLst/>
          </a:prstGeom>
          <a:ln w="30480">
            <a:solidFill>
              <a:srgbClr val="DD9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944368" y="3182112"/>
            <a:ext cx="8686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5B6774"/>
                </a:solidFill>
                <a:latin typeface="Arial"/>
              </a:rPr>
              <a:t>WHAT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44368" y="5760720"/>
            <a:ext cx="8686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5B6774"/>
                </a:solidFill>
                <a:latin typeface="Arial"/>
              </a:rPr>
              <a:t>WHAT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67728" y="5257800"/>
            <a:ext cx="8686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5B6774"/>
                </a:solidFill>
                <a:latin typeface="Arial"/>
              </a:rPr>
              <a:t>WHO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" y="6245352"/>
            <a:ext cx="11173968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 dirty="0">
                <a:solidFill>
                  <a:srgbClr val="142A43"/>
                </a:solidFill>
                <a:latin typeface="Arial"/>
              </a:rPr>
              <a:t>Each source remains independently selectable and auditable.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1207" y="6565392"/>
            <a:ext cx="1828800" cy="1371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850" b="0">
                <a:solidFill>
                  <a:srgbClr val="5B6774"/>
                </a:solidFill>
                <a:latin typeface="Arial"/>
              </a:rPr>
              <a:t>Illustrative identifiers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246888"/>
            <a:ext cx="11228832" cy="4754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500" b="1">
                <a:solidFill>
                  <a:srgbClr val="142A43"/>
                </a:solidFill>
                <a:latin typeface="Arial"/>
              </a:rPr>
              <a:t>One harmonizer output supports both identity and enrichment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1106424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300" b="0">
                <a:solidFill>
                  <a:srgbClr val="5B6774"/>
                </a:solidFill>
                <a:latin typeface="Arial"/>
              </a:rPr>
              <a:t>protein_ids.tsv is used twice: its mappings build the resolver, while its scores and methods enrich Protein records.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841248" cy="36576"/>
          </a:xfrm>
          <a:prstGeom prst="rect">
            <a:avLst/>
          </a:prstGeom>
          <a:solidFill>
            <a:srgbClr val="15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408176"/>
            <a:ext cx="1993392" cy="1847088"/>
          </a:xfrm>
          <a:prstGeom prst="roundRect">
            <a:avLst>
              <a:gd name="adj" fmla="val 7000"/>
            </a:avLst>
          </a:prstGeom>
          <a:solidFill>
            <a:srgbClr val="F2EBF7"/>
          </a:solidFill>
          <a:ln w="15875">
            <a:solidFill>
              <a:srgbClr val="794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1499616"/>
            <a:ext cx="1700784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794B9C"/>
                </a:solidFill>
                <a:latin typeface="Arial"/>
              </a:rPr>
              <a:t>TARGET HARMONIZER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1746504"/>
            <a:ext cx="1700784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500" b="1">
                <a:solidFill>
                  <a:srgbClr val="794B9C"/>
                </a:solidFill>
                <a:latin typeface="Arial"/>
              </a:rPr>
              <a:t>protein_ids.tsv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93976"/>
            <a:ext cx="1536192" cy="22860"/>
          </a:xfrm>
          <a:prstGeom prst="rect">
            <a:avLst/>
          </a:prstGeom>
          <a:solidFill>
            <a:srgbClr val="794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784" y="2212848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40" b="1">
                <a:solidFill>
                  <a:srgbClr val="5B6774"/>
                </a:solidFill>
                <a:latin typeface="Arial"/>
              </a:rPr>
              <a:t>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2212848"/>
            <a:ext cx="1042416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40" b="0">
                <a:solidFill>
                  <a:srgbClr val="794B9C"/>
                </a:solidFill>
                <a:latin typeface="Arial"/>
              </a:rPr>
              <a:t>IFXProtein:000042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2487168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5B6774"/>
                </a:solidFill>
                <a:latin typeface="Arial"/>
              </a:rPr>
              <a:t>UniProt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2487168"/>
            <a:ext cx="1042416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0">
                <a:solidFill>
                  <a:srgbClr val="794B9C"/>
                </a:solidFill>
                <a:latin typeface="Arial"/>
              </a:rPr>
              <a:t>P12345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2761488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5B6774"/>
                </a:solidFill>
                <a:latin typeface="Arial"/>
              </a:rPr>
              <a:t>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761488"/>
            <a:ext cx="1042416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0">
                <a:solidFill>
                  <a:srgbClr val="794B9C"/>
                </a:solidFill>
                <a:latin typeface="Arial"/>
              </a:rPr>
              <a:t>0.98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3035808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5B6774"/>
                </a:solidFill>
                <a:latin typeface="Arial"/>
              </a:rPr>
              <a:t>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035808"/>
            <a:ext cx="1042416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0">
                <a:solidFill>
                  <a:srgbClr val="794B9C"/>
                </a:solidFill>
                <a:latin typeface="Arial"/>
              </a:rPr>
              <a:t>consensus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6624" y="1636776"/>
            <a:ext cx="1335024" cy="1389888"/>
          </a:xfrm>
          <a:prstGeom prst="roundRect">
            <a:avLst>
              <a:gd name="adj" fmla="val 7000"/>
            </a:avLst>
          </a:prstGeom>
          <a:solidFill>
            <a:srgbClr val="F2EBF7"/>
          </a:solidFill>
          <a:ln w="15875">
            <a:solidFill>
              <a:srgbClr val="794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98064" y="1783080"/>
            <a:ext cx="1152144" cy="4572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794B9C"/>
                </a:solidFill>
                <a:latin typeface="Arial"/>
              </a:rPr>
              <a:t>Target Graph
Protein Adapter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2304288"/>
            <a:ext cx="1115568" cy="53035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0">
                <a:solidFill>
                  <a:srgbClr val="252D36"/>
                </a:solidFill>
                <a:latin typeface="Arial"/>
              </a:rPr>
              <a:t>maps source
columns into
Ligand fields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4256" y="1408176"/>
            <a:ext cx="1874519" cy="1847088"/>
          </a:xfrm>
          <a:prstGeom prst="roundRect">
            <a:avLst>
              <a:gd name="adj" fmla="val 7000"/>
            </a:avLst>
          </a:prstGeom>
          <a:solidFill>
            <a:srgbClr val="F2EBF7"/>
          </a:solidFill>
          <a:ln w="15875">
            <a:solidFill>
              <a:srgbClr val="794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71416" y="1527048"/>
            <a:ext cx="16002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 dirty="0">
                <a:solidFill>
                  <a:srgbClr val="794B9C"/>
                </a:solidFill>
                <a:latin typeface="Arial"/>
              </a:rPr>
              <a:t>ODIN Protein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1947672"/>
            <a:ext cx="1618488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252D36"/>
                </a:solidFill>
                <a:latin typeface="Arial"/>
              </a:rPr>
              <a:t>id = IFXProtein:000042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2231136"/>
            <a:ext cx="1618488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252D36"/>
                </a:solidFill>
                <a:latin typeface="Arial"/>
              </a:rPr>
              <a:t>protein_name_score = 0.98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2514600"/>
            <a:ext cx="1618488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252D36"/>
                </a:solidFill>
                <a:latin typeface="Arial"/>
              </a:rPr>
              <a:t>protein_name_method = consensus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2798063"/>
            <a:ext cx="1618488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252D36"/>
                </a:solidFill>
                <a:latin typeface="Arial"/>
              </a:rPr>
              <a:t>mapping_ratio = 1.0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014215"/>
            <a:ext cx="1993392" cy="1847088"/>
          </a:xfrm>
          <a:prstGeom prst="roundRect">
            <a:avLst>
              <a:gd name="adj" fmla="val 7000"/>
            </a:avLst>
          </a:prstGeom>
          <a:solidFill>
            <a:srgbClr val="E2F6F2"/>
          </a:solidFill>
          <a:ln w="15875">
            <a:solidFill>
              <a:srgbClr val="15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9496" y="4142231"/>
            <a:ext cx="1737360" cy="3474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158980"/>
                </a:solidFill>
                <a:latin typeface="Arial"/>
              </a:rPr>
              <a:t>PRIMARY SOURCE · UniProt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581144"/>
            <a:ext cx="1536192" cy="22860"/>
          </a:xfrm>
          <a:prstGeom prst="rect">
            <a:avLst/>
          </a:prstGeom>
          <a:solidFill>
            <a:srgbClr val="15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7784" y="4727448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5B6774"/>
                </a:solidFill>
                <a:latin typeface="Arial"/>
              </a:rPr>
              <a:t>accession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727448"/>
            <a:ext cx="1042416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0">
                <a:solidFill>
                  <a:srgbClr val="158980"/>
                </a:solidFill>
                <a:latin typeface="Arial"/>
              </a:rPr>
              <a:t>P12345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" y="5001768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5B6774"/>
                </a:solidFill>
                <a:latin typeface="Arial"/>
              </a:rPr>
              <a:t>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5001768"/>
            <a:ext cx="1042416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0">
                <a:solidFill>
                  <a:srgbClr val="158980"/>
                </a:solidFill>
                <a:latin typeface="Arial"/>
              </a:rPr>
              <a:t>Example receptor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" y="5276088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5B6774"/>
                </a:solidFill>
                <a:latin typeface="Arial"/>
              </a:rPr>
              <a:t>function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5276088"/>
            <a:ext cx="1042416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0">
                <a:solidFill>
                  <a:srgbClr val="158980"/>
                </a:solidFill>
                <a:latin typeface="Arial"/>
              </a:rPr>
              <a:t>Signal receptor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" y="5550407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1">
                <a:solidFill>
                  <a:srgbClr val="5B6774"/>
                </a:solidFill>
                <a:latin typeface="Arial"/>
              </a:rPr>
              <a:t>sequence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5550407"/>
            <a:ext cx="1042416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50" b="0">
                <a:solidFill>
                  <a:srgbClr val="158980"/>
                </a:solidFill>
                <a:latin typeface="Arial"/>
              </a:rPr>
              <a:t>M…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06624" y="4242816"/>
            <a:ext cx="1335024" cy="1389888"/>
          </a:xfrm>
          <a:prstGeom prst="roundRect">
            <a:avLst>
              <a:gd name="adj" fmla="val 7000"/>
            </a:avLst>
          </a:prstGeom>
          <a:solidFill>
            <a:srgbClr val="E2F6F2"/>
          </a:solidFill>
          <a:ln w="15875">
            <a:solidFill>
              <a:srgbClr val="15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98064" y="4389120"/>
            <a:ext cx="1152144" cy="4572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158980"/>
                </a:solidFill>
                <a:latin typeface="Arial"/>
              </a:rPr>
              <a:t>UniProt
Protein Adapter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16352" y="4910327"/>
            <a:ext cx="1115568" cy="53035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0">
                <a:solidFill>
                  <a:srgbClr val="252D36"/>
                </a:solidFill>
                <a:latin typeface="Arial"/>
              </a:rPr>
              <a:t>maps source
columns into
Ligand fields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34256" y="4014215"/>
            <a:ext cx="1874519" cy="1847088"/>
          </a:xfrm>
          <a:prstGeom prst="roundRect">
            <a:avLst>
              <a:gd name="adj" fmla="val 7000"/>
            </a:avLst>
          </a:prstGeom>
          <a:solidFill>
            <a:srgbClr val="E2F6F2"/>
          </a:solidFill>
          <a:ln w="15875">
            <a:solidFill>
              <a:srgbClr val="15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71416" y="4133087"/>
            <a:ext cx="16002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 dirty="0">
                <a:solidFill>
                  <a:srgbClr val="158980"/>
                </a:solidFill>
                <a:latin typeface="Arial"/>
              </a:rPr>
              <a:t>ODIN Protein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62272" y="4553712"/>
            <a:ext cx="1618488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252D36"/>
                </a:solidFill>
                <a:latin typeface="Arial"/>
              </a:rPr>
              <a:t>id = UniProtKB:P12345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62272" y="4837175"/>
            <a:ext cx="1618488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252D36"/>
                </a:solidFill>
                <a:latin typeface="Arial"/>
              </a:rPr>
              <a:t>name = Example receptor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2272" y="5120640"/>
            <a:ext cx="1618488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252D36"/>
                </a:solidFill>
                <a:latin typeface="Arial"/>
              </a:rPr>
              <a:t>function = Signal receptor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62272" y="5404103"/>
            <a:ext cx="1618488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252D36"/>
                </a:solidFill>
                <a:latin typeface="Arial"/>
              </a:rPr>
              <a:t>sequence = M…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441448" y="2331720"/>
            <a:ext cx="228600" cy="0"/>
          </a:xfrm>
          <a:prstGeom prst="line">
            <a:avLst/>
          </a:prstGeom>
          <a:ln w="30480">
            <a:solidFill>
              <a:srgbClr val="794B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059936" y="2331720"/>
            <a:ext cx="237744" cy="0"/>
          </a:xfrm>
          <a:prstGeom prst="line">
            <a:avLst/>
          </a:prstGeom>
          <a:ln w="30480">
            <a:solidFill>
              <a:srgbClr val="794B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441448" y="4937760"/>
            <a:ext cx="228600" cy="0"/>
          </a:xfrm>
          <a:prstGeom prst="line">
            <a:avLst/>
          </a:prstGeom>
          <a:ln w="30480">
            <a:solidFill>
              <a:srgbClr val="15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059936" y="4937760"/>
            <a:ext cx="237744" cy="0"/>
          </a:xfrm>
          <a:prstGeom prst="line">
            <a:avLst/>
          </a:prstGeom>
          <a:ln w="30480">
            <a:solidFill>
              <a:srgbClr val="15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565392" y="1993392"/>
            <a:ext cx="1664208" cy="3127248"/>
          </a:xfrm>
          <a:prstGeom prst="roundRect">
            <a:avLst>
              <a:gd name="adj" fmla="val 7000"/>
            </a:avLst>
          </a:prstGeom>
          <a:solidFill>
            <a:srgbClr val="E2F6F2"/>
          </a:solidFill>
          <a:ln w="15875">
            <a:solidFill>
              <a:srgbClr val="15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29984" y="2176272"/>
            <a:ext cx="1335024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158980"/>
                </a:solidFill>
                <a:latin typeface="Arial"/>
              </a:rPr>
              <a:t>TARGET GRAPH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84264" y="2432304"/>
            <a:ext cx="1426464" cy="4297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158980"/>
                </a:solidFill>
                <a:latin typeface="Arial"/>
              </a:rPr>
              <a:t>PROTEIN RESOLVER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2898648"/>
            <a:ext cx="987552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50" b="1">
                <a:solidFill>
                  <a:srgbClr val="158980"/>
                </a:solidFill>
                <a:latin typeface="Arial"/>
              </a:rPr>
              <a:t>WHO?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02552" y="3346704"/>
            <a:ext cx="1389888" cy="23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158980"/>
                </a:solidFill>
                <a:latin typeface="Arial"/>
              </a:rPr>
              <a:t>UniProtKB:P12345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14032" y="3657600"/>
            <a:ext cx="548640" cy="2468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600" b="1">
                <a:solidFill>
                  <a:srgbClr val="158980"/>
                </a:solidFill>
                <a:latin typeface="Arial"/>
              </a:rPr>
              <a:t>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766560" y="3968496"/>
            <a:ext cx="1261872" cy="5303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5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812280" y="4096512"/>
            <a:ext cx="1170432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80" b="1">
                <a:solidFill>
                  <a:srgbClr val="158980"/>
                </a:solidFill>
                <a:latin typeface="Arial"/>
              </a:rPr>
              <a:t>IFXProtein:000042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39128" y="4681728"/>
            <a:ext cx="1316736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19" b="0">
                <a:solidFill>
                  <a:srgbClr val="5B6774"/>
                </a:solidFill>
                <a:latin typeface="Arial"/>
              </a:rPr>
              <a:t>preferred Protein ID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236208" y="2331720"/>
            <a:ext cx="292608" cy="960120"/>
          </a:xfrm>
          <a:prstGeom prst="line">
            <a:avLst/>
          </a:prstGeom>
          <a:ln w="30480">
            <a:solidFill>
              <a:srgbClr val="794B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236208" y="4462272"/>
            <a:ext cx="292608" cy="475488"/>
          </a:xfrm>
          <a:prstGeom prst="line">
            <a:avLst/>
          </a:prstGeom>
          <a:ln w="30480">
            <a:solidFill>
              <a:srgbClr val="15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719072" y="3273552"/>
            <a:ext cx="0" cy="310896"/>
          </a:xfrm>
          <a:prstGeom prst="line">
            <a:avLst/>
          </a:prstGeom>
          <a:ln w="25400">
            <a:solidFill>
              <a:srgbClr val="15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719072" y="3584448"/>
            <a:ext cx="4700016" cy="0"/>
          </a:xfrm>
          <a:prstGeom prst="line">
            <a:avLst/>
          </a:prstGeom>
          <a:ln w="25400">
            <a:solidFill>
              <a:srgbClr val="15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419088" y="3584448"/>
            <a:ext cx="109728" cy="0"/>
          </a:xfrm>
          <a:prstGeom prst="line">
            <a:avLst/>
          </a:prstGeom>
          <a:ln w="25400">
            <a:solidFill>
              <a:srgbClr val="15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331720" y="3337560"/>
            <a:ext cx="31546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30" b="1">
                <a:solidFill>
                  <a:srgbClr val="158980"/>
                </a:solidFill>
                <a:latin typeface="Arial"/>
              </a:rPr>
              <a:t>the same TSV builds the resolver index</a:t>
            </a:r>
          </a:p>
        </p:txBody>
      </p:sp>
      <p:sp>
        <p:nvSpPr>
          <p:cNvPr id="65" name="Hexagon 64"/>
          <p:cNvSpPr/>
          <p:nvPr/>
        </p:nvSpPr>
        <p:spPr>
          <a:xfrm>
            <a:off x="8458200" y="3154680"/>
            <a:ext cx="749808" cy="868680"/>
          </a:xfrm>
          <a:prstGeom prst="hexagon">
            <a:avLst/>
          </a:prstGeom>
          <a:solidFill>
            <a:srgbClr val="FDF4E0"/>
          </a:solidFill>
          <a:ln w="17780">
            <a:solidFill>
              <a:srgbClr val="DD9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540496" y="3392424"/>
            <a:ext cx="585216" cy="23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DD992A"/>
                </a:solidFill>
                <a:latin typeface="Arial"/>
              </a:rPr>
              <a:t>MERGE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266175" y="3593592"/>
            <a:ext cx="155449" cy="0"/>
          </a:xfrm>
          <a:prstGeom prst="line">
            <a:avLst/>
          </a:prstGeom>
          <a:ln w="30480">
            <a:solidFill>
              <a:srgbClr val="15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9418320" y="1426464"/>
            <a:ext cx="2359152" cy="4498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4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582912" y="1618488"/>
            <a:ext cx="2029968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50" b="1">
                <a:solidFill>
                  <a:srgbClr val="142A43"/>
                </a:solidFill>
                <a:latin typeface="Arial"/>
              </a:rPr>
              <a:t>CANONICAL PROTEIN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82912" y="1984248"/>
            <a:ext cx="2029968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158980"/>
                </a:solidFill>
                <a:latin typeface="Arial"/>
              </a:rPr>
              <a:t>IFXProtein:000042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710928" y="2350008"/>
            <a:ext cx="1773936" cy="22860"/>
          </a:xfrm>
          <a:prstGeom prst="rect">
            <a:avLst/>
          </a:prstGeom>
          <a:solidFill>
            <a:srgbClr val="C3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619488" y="2487168"/>
            <a:ext cx="749808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1">
                <a:solidFill>
                  <a:srgbClr val="5B6774"/>
                </a:solidFill>
                <a:latin typeface="Arial"/>
              </a:rPr>
              <a:t>name score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87584" y="2487168"/>
            <a:ext cx="105156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252D36"/>
                </a:solidFill>
                <a:latin typeface="Arial"/>
              </a:rPr>
              <a:t>0.98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637776" y="2743200"/>
            <a:ext cx="1097280" cy="228600"/>
          </a:xfrm>
          <a:prstGeom prst="roundRect">
            <a:avLst>
              <a:gd name="adj" fmla="val 18000"/>
            </a:avLst>
          </a:prstGeom>
          <a:solidFill>
            <a:srgbClr val="794B9C"/>
          </a:solidFill>
          <a:ln w="15875">
            <a:solidFill>
              <a:srgbClr val="794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674351" y="2756916"/>
            <a:ext cx="1024127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Target Harmonizer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19488" y="3072384"/>
            <a:ext cx="841248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1">
                <a:solidFill>
                  <a:srgbClr val="5B6774"/>
                </a:solidFill>
                <a:latin typeface="Arial"/>
              </a:rPr>
              <a:t>name method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79024" y="3072384"/>
            <a:ext cx="96012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252D36"/>
                </a:solidFill>
                <a:latin typeface="Arial"/>
              </a:rPr>
              <a:t>consensus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637776" y="3328416"/>
            <a:ext cx="1097280" cy="228600"/>
          </a:xfrm>
          <a:prstGeom prst="roundRect">
            <a:avLst>
              <a:gd name="adj" fmla="val 18000"/>
            </a:avLst>
          </a:prstGeom>
          <a:solidFill>
            <a:srgbClr val="794B9C"/>
          </a:solidFill>
          <a:ln w="15875">
            <a:solidFill>
              <a:srgbClr val="794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674351" y="3342132"/>
            <a:ext cx="1024127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Target Harmonizer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19488" y="3657600"/>
            <a:ext cx="896112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1">
                <a:solidFill>
                  <a:srgbClr val="5B6774"/>
                </a:solidFill>
                <a:latin typeface="Arial"/>
              </a:rPr>
              <a:t>mapping ratio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33888" y="3657600"/>
            <a:ext cx="905256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252D36"/>
                </a:solidFill>
                <a:latin typeface="Arial"/>
              </a:rPr>
              <a:t>1.0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637776" y="3913632"/>
            <a:ext cx="1097280" cy="228600"/>
          </a:xfrm>
          <a:prstGeom prst="roundRect">
            <a:avLst>
              <a:gd name="adj" fmla="val 18000"/>
            </a:avLst>
          </a:prstGeom>
          <a:solidFill>
            <a:srgbClr val="794B9C"/>
          </a:solidFill>
          <a:ln w="15875">
            <a:solidFill>
              <a:srgbClr val="794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674351" y="3927348"/>
            <a:ext cx="1024127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Target Harmonizer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619488" y="4242816"/>
            <a:ext cx="585216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1">
                <a:solidFill>
                  <a:srgbClr val="5B6774"/>
                </a:solidFill>
                <a:latin typeface="Arial"/>
              </a:rPr>
              <a:t>function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222992" y="4242816"/>
            <a:ext cx="1216152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252D36"/>
                </a:solidFill>
                <a:latin typeface="Arial"/>
              </a:rPr>
              <a:t>Signal receptor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637776" y="4498848"/>
            <a:ext cx="603504" cy="228600"/>
          </a:xfrm>
          <a:prstGeom prst="roundRect">
            <a:avLst>
              <a:gd name="adj" fmla="val 18000"/>
            </a:avLst>
          </a:prstGeom>
          <a:solidFill>
            <a:srgbClr val="158980"/>
          </a:solidFill>
          <a:ln w="15875">
            <a:solidFill>
              <a:srgbClr val="15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674351" y="4512564"/>
            <a:ext cx="530352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UniProt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19488" y="4828032"/>
            <a:ext cx="713232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00" b="1">
                <a:solidFill>
                  <a:srgbClr val="5B6774"/>
                </a:solidFill>
                <a:latin typeface="Arial"/>
              </a:rPr>
              <a:t>sequence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69296" y="4828032"/>
            <a:ext cx="1069848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252D36"/>
                </a:solidFill>
                <a:latin typeface="Arial"/>
              </a:rPr>
              <a:t>M…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637776" y="5084064"/>
            <a:ext cx="603504" cy="228600"/>
          </a:xfrm>
          <a:prstGeom prst="roundRect">
            <a:avLst>
              <a:gd name="adj" fmla="val 18000"/>
            </a:avLst>
          </a:prstGeom>
          <a:solidFill>
            <a:srgbClr val="158980"/>
          </a:solidFill>
          <a:ln w="15875">
            <a:solidFill>
              <a:srgbClr val="15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674351" y="5097779"/>
            <a:ext cx="530352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UniProt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619488" y="5413248"/>
            <a:ext cx="896112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40" b="1">
                <a:solidFill>
                  <a:srgbClr val="5B6774"/>
                </a:solidFill>
                <a:latin typeface="Arial"/>
              </a:rPr>
              <a:t>equivalent ID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33888" y="5413248"/>
            <a:ext cx="886968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850" b="0">
                <a:solidFill>
                  <a:srgbClr val="252D36"/>
                </a:solidFill>
                <a:latin typeface="Arial"/>
              </a:rPr>
              <a:t>UniProtKB:P12345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637776" y="5650992"/>
            <a:ext cx="603504" cy="228600"/>
          </a:xfrm>
          <a:prstGeom prst="roundRect">
            <a:avLst>
              <a:gd name="adj" fmla="val 18000"/>
            </a:avLst>
          </a:prstGeom>
          <a:solidFill>
            <a:srgbClr val="158980"/>
          </a:solidFill>
          <a:ln w="15875">
            <a:solidFill>
              <a:srgbClr val="15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674351" y="5664707"/>
            <a:ext cx="530352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resolver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9235440" y="3593592"/>
            <a:ext cx="146304" cy="0"/>
          </a:xfrm>
          <a:prstGeom prst="line">
            <a:avLst/>
          </a:prstGeom>
          <a:ln w="30480">
            <a:solidFill>
              <a:srgbClr val="DD9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2944368" y="3172968"/>
            <a:ext cx="8686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5B6774"/>
                </a:solidFill>
                <a:latin typeface="Arial"/>
              </a:rPr>
              <a:t>WHAT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44368" y="5769864"/>
            <a:ext cx="8686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5B6774"/>
                </a:solidFill>
                <a:latin typeface="Arial"/>
              </a:rPr>
              <a:t>WHAT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67728" y="5303520"/>
            <a:ext cx="8686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5B6774"/>
                </a:solidFill>
                <a:latin typeface="Arial"/>
              </a:rPr>
              <a:t>WHO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2920" y="6291072"/>
            <a:ext cx="11173968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142A43"/>
                </a:solidFill>
                <a:latin typeface="Arial"/>
              </a:rPr>
              <a:t>The harmonizer adds its own value while UniProt remains independently available and auditable.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1207" y="6583680"/>
            <a:ext cx="1828800" cy="1371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850" b="0">
                <a:solidFill>
                  <a:srgbClr val="5B6774"/>
                </a:solidFill>
                <a:latin typeface="Arial"/>
              </a:rPr>
              <a:t>Illustrative values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113761"/>
            <a:ext cx="11228832" cy="74174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350" b="1" dirty="0">
                <a:solidFill>
                  <a:srgbClr val="142A43"/>
                </a:solidFill>
                <a:latin typeface="Arial"/>
              </a:rPr>
              <a:t>With </a:t>
            </a:r>
            <a:r>
              <a:rPr sz="2350" b="1" dirty="0" err="1">
                <a:solidFill>
                  <a:srgbClr val="142A43"/>
                </a:solidFill>
                <a:latin typeface="Arial"/>
              </a:rPr>
              <a:t>drug_nodes_full.tsv</a:t>
            </a:r>
            <a:r>
              <a:rPr sz="2350" b="1" dirty="0">
                <a:solidFill>
                  <a:srgbClr val="142A43"/>
                </a:solidFill>
                <a:latin typeface="Arial"/>
              </a:rPr>
              <a:t>,</a:t>
            </a:r>
            <a:r>
              <a:rPr lang="en-US" sz="2350" b="1" dirty="0">
                <a:solidFill>
                  <a:srgbClr val="142A43"/>
                </a:solidFill>
                <a:latin typeface="Arial"/>
              </a:rPr>
              <a:t> the graph builder </a:t>
            </a:r>
            <a:r>
              <a:rPr sz="2350" b="1" dirty="0">
                <a:solidFill>
                  <a:srgbClr val="142A43"/>
                </a:solidFill>
                <a:latin typeface="Arial"/>
              </a:rPr>
              <a:t>sees the result—not the original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805139"/>
            <a:ext cx="11064240" cy="218521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300" b="0" dirty="0">
                <a:solidFill>
                  <a:srgbClr val="5B6774"/>
                </a:solidFill>
                <a:latin typeface="Arial"/>
              </a:rPr>
              <a:t>Identity resolution and payload selection both happen upstream; </a:t>
            </a:r>
            <a:r>
              <a:rPr lang="en-US" sz="1300" b="0" dirty="0">
                <a:solidFill>
                  <a:srgbClr val="5B6774"/>
                </a:solidFill>
                <a:latin typeface="Arial"/>
              </a:rPr>
              <a:t>the graph builder</a:t>
            </a:r>
            <a:r>
              <a:rPr sz="1300" b="0" dirty="0">
                <a:solidFill>
                  <a:srgbClr val="5B6774"/>
                </a:solidFill>
                <a:latin typeface="Arial"/>
              </a:rPr>
              <a:t> receives one combined Drug Harmonizer record.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841248" cy="36576"/>
          </a:xfrm>
          <a:prstGeom prst="rect">
            <a:avLst/>
          </a:prstGeom>
          <a:solidFill>
            <a:srgbClr val="B8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755648" cy="1627632"/>
          </a:xfrm>
          <a:prstGeom prst="roundRect">
            <a:avLst>
              <a:gd name="adj" fmla="val 7000"/>
            </a:avLst>
          </a:prstGeom>
          <a:solidFill>
            <a:srgbClr val="E7F1F9"/>
          </a:solidFill>
          <a:ln w="15875">
            <a:solidFill>
              <a:srgbClr val="27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527048"/>
            <a:ext cx="1517904" cy="3840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2770AE"/>
                </a:solidFill>
                <a:latin typeface="Arial"/>
              </a:rPr>
              <a:t>DATA SOURCE A
DrugCentral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975104"/>
            <a:ext cx="1353312" cy="22860"/>
          </a:xfrm>
          <a:prstGeom prst="rect">
            <a:avLst/>
          </a:prstGeom>
          <a:solidFill>
            <a:srgbClr val="277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9496" y="2103120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780" b="1">
                <a:solidFill>
                  <a:srgbClr val="5B6774"/>
                </a:solidFill>
                <a:latin typeface="Arial"/>
              </a:rP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7864" y="2103120"/>
            <a:ext cx="841247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780" b="0">
                <a:solidFill>
                  <a:srgbClr val="2770AE"/>
                </a:solidFill>
                <a:latin typeface="Arial"/>
              </a:rPr>
              <a:t>DrugCentral:DC123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2368296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1">
                <a:solidFill>
                  <a:srgbClr val="5B6774"/>
                </a:solidFill>
                <a:latin typeface="Arial"/>
              </a:rP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7864" y="2368296"/>
            <a:ext cx="841247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2770AE"/>
                </a:solidFill>
                <a:latin typeface="Arial"/>
              </a:rPr>
              <a:t>Example Drug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2633472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1">
                <a:solidFill>
                  <a:srgbClr val="5B6774"/>
                </a:solidFill>
                <a:latin typeface="Arial"/>
              </a:rP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7864" y="2633472"/>
            <a:ext cx="841247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2770AE"/>
                </a:solidFill>
                <a:latin typeface="Arial"/>
              </a:rPr>
              <a:t>approved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986784"/>
            <a:ext cx="1755648" cy="1627632"/>
          </a:xfrm>
          <a:prstGeom prst="roundRect">
            <a:avLst>
              <a:gd name="adj" fmla="val 7000"/>
            </a:avLst>
          </a:prstGeom>
          <a:solidFill>
            <a:srgbClr val="F2EBF7"/>
          </a:solidFill>
          <a:ln w="15875">
            <a:solidFill>
              <a:srgbClr val="794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4096512"/>
            <a:ext cx="1517904" cy="3840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00" b="1">
                <a:solidFill>
                  <a:srgbClr val="794B9C"/>
                </a:solidFill>
                <a:latin typeface="Arial"/>
              </a:rPr>
              <a:t>DATA SOURCE B
ChEMBL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4544568"/>
            <a:ext cx="1353312" cy="22860"/>
          </a:xfrm>
          <a:prstGeom prst="rect">
            <a:avLst/>
          </a:prstGeom>
          <a:solidFill>
            <a:srgbClr val="794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9496" y="4672584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780" b="1">
                <a:solidFill>
                  <a:srgbClr val="5B6774"/>
                </a:solidFill>
                <a:latin typeface="Arial"/>
              </a:rPr>
              <a:t>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7864" y="4672584"/>
            <a:ext cx="841247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780" b="0">
                <a:solidFill>
                  <a:srgbClr val="794B9C"/>
                </a:solidFill>
                <a:latin typeface="Arial"/>
              </a:rPr>
              <a:t>ChEMBL:CHEMBL456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" y="4937760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1">
                <a:solidFill>
                  <a:srgbClr val="5B6774"/>
                </a:solidFill>
                <a:latin typeface="Arial"/>
              </a:rPr>
              <a:t>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7864" y="4937760"/>
            <a:ext cx="841247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794B9C"/>
                </a:solidFill>
                <a:latin typeface="Arial"/>
              </a:rPr>
              <a:t>Example Drug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" y="5202936"/>
            <a:ext cx="64008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1">
                <a:solidFill>
                  <a:srgbClr val="5B6774"/>
                </a:solidFill>
                <a:latin typeface="Arial"/>
              </a:rPr>
              <a:t>phase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7864" y="5202936"/>
            <a:ext cx="841247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794B9C"/>
                </a:solidFill>
                <a:latin typeface="Arial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87168" y="1344168"/>
            <a:ext cx="2487168" cy="4407408"/>
          </a:xfrm>
          <a:prstGeom prst="roundRect">
            <a:avLst>
              <a:gd name="adj" fmla="val 7000"/>
            </a:avLst>
          </a:prstGeom>
          <a:solidFill>
            <a:srgbClr val="FAE8E6"/>
          </a:solidFill>
          <a:ln w="15875"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88336" y="1545336"/>
            <a:ext cx="2084831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600" b="1">
                <a:solidFill>
                  <a:srgbClr val="B84343"/>
                </a:solidFill>
                <a:latin typeface="Arial"/>
              </a:rPr>
              <a:t>IFX HARMONIZERS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2029968"/>
            <a:ext cx="1883664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44368" y="2176272"/>
            <a:ext cx="54864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50" b="1">
                <a:solidFill>
                  <a:srgbClr val="B84343"/>
                </a:solidFill>
                <a:latin typeface="Arial"/>
              </a:rPr>
              <a:t>WHO?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1296" y="2130552"/>
            <a:ext cx="1005840" cy="6583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30" b="0">
                <a:solidFill>
                  <a:srgbClr val="252D36"/>
                </a:solidFill>
                <a:latin typeface="Arial"/>
              </a:rPr>
              <a:t>Link the source IDs and
choose IFXDrug:000042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88920" y="3493008"/>
            <a:ext cx="1883664" cy="14721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44368" y="3639312"/>
            <a:ext cx="585216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50" b="1">
                <a:solidFill>
                  <a:srgbClr val="B84343"/>
                </a:solidFill>
                <a:latin typeface="Arial"/>
              </a:rPr>
              <a:t>WHAT?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8728" y="3593592"/>
            <a:ext cx="978408" cy="9326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252D36"/>
                </a:solidFill>
                <a:latin typeface="Arial"/>
              </a:rPr>
              <a:t>Choose exported fields,
combine source values,
and derive isDrug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285232"/>
            <a:ext cx="1975104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B84343"/>
                </a:solidFill>
                <a:latin typeface="Arial"/>
              </a:rPr>
              <a:t>Both decisions are now upstream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194560" y="2231136"/>
            <a:ext cx="256032" cy="283464"/>
          </a:xfrm>
          <a:prstGeom prst="line">
            <a:avLst/>
          </a:prstGeom>
          <a:ln w="30480">
            <a:solidFill>
              <a:srgbClr val="277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194560" y="4507992"/>
            <a:ext cx="256032" cy="292608"/>
          </a:xfrm>
          <a:prstGeom prst="line">
            <a:avLst/>
          </a:prstGeom>
          <a:ln w="30480">
            <a:solidFill>
              <a:srgbClr val="794B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340096" y="1792224"/>
            <a:ext cx="1828800" cy="3493008"/>
          </a:xfrm>
          <a:prstGeom prst="roundRect">
            <a:avLst>
              <a:gd name="adj" fmla="val 7000"/>
            </a:avLst>
          </a:prstGeom>
          <a:solidFill>
            <a:srgbClr val="FDF4E0"/>
          </a:solidFill>
          <a:ln w="15875">
            <a:solidFill>
              <a:srgbClr val="DD9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68112" y="1929384"/>
            <a:ext cx="1572768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DD992A"/>
                </a:solidFill>
                <a:latin typeface="Arial"/>
              </a:rPr>
              <a:t>COMBINED EXPORT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9824" y="2203704"/>
            <a:ext cx="1609344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50" b="1">
                <a:solidFill>
                  <a:srgbClr val="DD992A"/>
                </a:solidFill>
                <a:latin typeface="Arial"/>
              </a:rPr>
              <a:t>drug_nodes_full.tsv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41264" y="2624328"/>
            <a:ext cx="1426464" cy="22860"/>
          </a:xfrm>
          <a:prstGeom prst="rect">
            <a:avLst/>
          </a:prstGeom>
          <a:solidFill>
            <a:srgbClr val="DD9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04688" y="2752344"/>
            <a:ext cx="1499616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5B6774"/>
                </a:solidFill>
                <a:latin typeface="Arial"/>
              </a:rPr>
              <a:t>one already-canonical row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145536"/>
            <a:ext cx="585216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80" b="1">
                <a:solidFill>
                  <a:srgbClr val="5B6774"/>
                </a:solidFill>
                <a:latin typeface="Arial"/>
              </a:rPr>
              <a:t>drug_id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3374136"/>
            <a:ext cx="1536192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50" b="0">
                <a:solidFill>
                  <a:srgbClr val="252D36"/>
                </a:solidFill>
                <a:latin typeface="Arial"/>
              </a:rPr>
              <a:t>IFXDrug:000042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3694176"/>
            <a:ext cx="10058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80" b="1">
                <a:solidFill>
                  <a:srgbClr val="5B6774"/>
                </a:solidFill>
                <a:latin typeface="Arial"/>
              </a:rPr>
              <a:t>standard_name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3922776"/>
            <a:ext cx="1536192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19" b="0">
                <a:solidFill>
                  <a:srgbClr val="252D36"/>
                </a:solidFill>
                <a:latin typeface="Arial"/>
              </a:rPr>
              <a:t>Example Drug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4242816"/>
            <a:ext cx="128016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40" b="1">
                <a:solidFill>
                  <a:srgbClr val="5B6774"/>
                </a:solidFill>
                <a:latin typeface="Arial"/>
              </a:rPr>
              <a:t>source_namespaces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4471416"/>
            <a:ext cx="1536192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30" b="0">
                <a:solidFill>
                  <a:srgbClr val="252D36"/>
                </a:solidFill>
                <a:latin typeface="Arial"/>
              </a:rPr>
              <a:t>DrugCentral | ChEMBL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95544" y="4809744"/>
            <a:ext cx="1517904" cy="3108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D9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68696" y="4864608"/>
            <a:ext cx="1371600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B84343"/>
                </a:solidFill>
                <a:latin typeface="Arial"/>
              </a:rPr>
              <a:t>No per-field attribution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10912" y="3529584"/>
            <a:ext cx="292608" cy="0"/>
          </a:xfrm>
          <a:prstGeom prst="line">
            <a:avLst/>
          </a:prstGeom>
          <a:ln w="30480">
            <a:solidFill>
              <a:srgbClr val="B8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479792" y="1874519"/>
            <a:ext cx="1700784" cy="3346704"/>
          </a:xfrm>
          <a:prstGeom prst="roundRect">
            <a:avLst>
              <a:gd name="adj" fmla="val 7000"/>
            </a:avLst>
          </a:prstGeom>
          <a:solidFill>
            <a:srgbClr val="E7F1F9"/>
          </a:solidFill>
          <a:ln w="15875">
            <a:solidFill>
              <a:srgbClr val="27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35240" y="2084831"/>
            <a:ext cx="1389888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50" b="1" dirty="0">
                <a:solidFill>
                  <a:srgbClr val="2770AE"/>
                </a:solidFill>
                <a:latin typeface="Arial"/>
              </a:rPr>
              <a:t>ODIN ADAPTER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26096" y="2542032"/>
            <a:ext cx="1408176" cy="5943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30" b="1">
                <a:solidFill>
                  <a:srgbClr val="252D36"/>
                </a:solidFill>
                <a:latin typeface="Arial"/>
              </a:rPr>
              <a:t>DrugHarmonizer
LigandNodeAdapter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01568"/>
            <a:ext cx="1389888" cy="5486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40" b="0">
                <a:solidFill>
                  <a:srgbClr val="252D36"/>
                </a:solidFill>
                <a:latin typeface="Arial"/>
              </a:rPr>
              <a:t>Creates a Ligand from
selected export columns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99248" y="4206240"/>
            <a:ext cx="1261872" cy="6583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27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90688" y="4315968"/>
            <a:ext cx="1078992" cy="4389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2770AE"/>
                </a:solidFill>
                <a:latin typeface="Arial"/>
              </a:rPr>
              <a:t>framework source:
Drug Harmonizer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71816" y="4928616"/>
            <a:ext cx="1316736" cy="1645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40" b="1">
                <a:solidFill>
                  <a:srgbClr val="B84343"/>
                </a:solidFill>
                <a:latin typeface="Arial"/>
              </a:rPr>
              <a:t>one adapter controls all included sources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205472" y="3529584"/>
            <a:ext cx="237744" cy="0"/>
          </a:xfrm>
          <a:prstGeom prst="line">
            <a:avLst/>
          </a:prstGeom>
          <a:ln w="30480">
            <a:solidFill>
              <a:srgbClr val="DD99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528048" y="1499616"/>
            <a:ext cx="2249424" cy="4315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4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701784" y="1709928"/>
            <a:ext cx="1901952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50" b="1">
                <a:solidFill>
                  <a:srgbClr val="142A43"/>
                </a:solidFill>
                <a:latin typeface="Arial"/>
              </a:rPr>
              <a:t>CANONICAL DRUG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01784" y="2075688"/>
            <a:ext cx="1901952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200" b="1">
                <a:solidFill>
                  <a:srgbClr val="158980"/>
                </a:solidFill>
                <a:latin typeface="Arial"/>
              </a:rPr>
              <a:t>IFXDrug:000042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802368" y="2441448"/>
            <a:ext cx="1700784" cy="22860"/>
          </a:xfrm>
          <a:prstGeom prst="rect">
            <a:avLst/>
          </a:prstGeom>
          <a:solidFill>
            <a:srgbClr val="C3C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720072" y="2615184"/>
            <a:ext cx="475488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30" b="1">
                <a:solidFill>
                  <a:srgbClr val="5B6774"/>
                </a:solidFill>
                <a:latin typeface="Arial"/>
              </a:rPr>
              <a:t>name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22992" y="2615184"/>
            <a:ext cx="118872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30" b="0">
                <a:solidFill>
                  <a:srgbClr val="252D36"/>
                </a:solidFill>
                <a:latin typeface="Arial"/>
              </a:rPr>
              <a:t>Example Drug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38360" y="2889504"/>
            <a:ext cx="1060704" cy="228600"/>
          </a:xfrm>
          <a:prstGeom prst="roundRect">
            <a:avLst>
              <a:gd name="adj" fmla="val 18000"/>
            </a:avLst>
          </a:prstGeom>
          <a:solidFill>
            <a:srgbClr val="B84343"/>
          </a:solidFill>
          <a:ln w="15875"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774936" y="2903220"/>
            <a:ext cx="987551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Drug Harmonizer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20072" y="3273552"/>
            <a:ext cx="475488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30" b="1">
                <a:solidFill>
                  <a:srgbClr val="5B6774"/>
                </a:solidFill>
                <a:latin typeface="Arial"/>
              </a:rPr>
              <a:t>isDrug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22992" y="3273552"/>
            <a:ext cx="118872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030" b="0">
                <a:solidFill>
                  <a:srgbClr val="252D36"/>
                </a:solidFill>
                <a:latin typeface="Arial"/>
              </a:rPr>
              <a:t>true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738360" y="3547872"/>
            <a:ext cx="1060704" cy="228600"/>
          </a:xfrm>
          <a:prstGeom prst="roundRect">
            <a:avLst>
              <a:gd name="adj" fmla="val 18000"/>
            </a:avLst>
          </a:prstGeom>
          <a:solidFill>
            <a:srgbClr val="B84343"/>
          </a:solidFill>
          <a:ln w="15875"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774936" y="3561588"/>
            <a:ext cx="987551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Drug Harmonizer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756648" y="4041648"/>
            <a:ext cx="1792224" cy="1353312"/>
          </a:xfrm>
          <a:prstGeom prst="roundRect">
            <a:avLst>
              <a:gd name="adj" fmla="val 7000"/>
            </a:avLst>
          </a:prstGeom>
          <a:solidFill>
            <a:srgbClr val="FAE8E6"/>
          </a:solidFill>
          <a:ln w="15875"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893808" y="4113147"/>
            <a:ext cx="1517904" cy="3416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en-US" sz="1050" b="1" dirty="0">
                <a:solidFill>
                  <a:srgbClr val="B84343"/>
                </a:solidFill>
                <a:latin typeface="Arial"/>
              </a:rPr>
              <a:t>Graph builder</a:t>
            </a:r>
            <a:r>
              <a:rPr sz="1050" b="1" dirty="0">
                <a:solidFill>
                  <a:srgbClr val="B84343"/>
                </a:solidFill>
                <a:latin typeface="Arial"/>
              </a:rPr>
              <a:t> no longer knows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02952" y="4462272"/>
            <a:ext cx="1499616" cy="75895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50" b="0">
                <a:solidFill>
                  <a:srgbClr val="252D36"/>
                </a:solidFill>
                <a:latin typeface="Arial"/>
              </a:rPr>
              <a:t>which source set each field
or which omitted source
fields were available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217152" y="3529584"/>
            <a:ext cx="274320" cy="0"/>
          </a:xfrm>
          <a:prstGeom prst="line">
            <a:avLst/>
          </a:prstGeom>
          <a:ln w="30480">
            <a:solidFill>
              <a:srgbClr val="B8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502920" y="6062472"/>
            <a:ext cx="11183112" cy="502920"/>
          </a:xfrm>
          <a:prstGeom prst="roundRect">
            <a:avLst>
              <a:gd name="adj" fmla="val 7000"/>
            </a:avLst>
          </a:prstGeom>
          <a:solidFill>
            <a:srgbClr val="FAE8E6"/>
          </a:solidFill>
          <a:ln w="15875"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31520" y="6194802"/>
            <a:ext cx="10725912" cy="21082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en-US" sz="1250" b="1" dirty="0">
                <a:solidFill>
                  <a:srgbClr val="B84343"/>
                </a:solidFill>
                <a:latin typeface="Arial"/>
              </a:rPr>
              <a:t>The graph builder</a:t>
            </a:r>
            <a:r>
              <a:rPr sz="1250" b="1" dirty="0">
                <a:solidFill>
                  <a:srgbClr val="B84343"/>
                </a:solidFill>
                <a:latin typeface="Arial"/>
              </a:rPr>
              <a:t> cannot include or exclude </a:t>
            </a:r>
            <a:r>
              <a:rPr sz="1250" b="1" dirty="0" err="1">
                <a:solidFill>
                  <a:srgbClr val="B84343"/>
                </a:solidFill>
                <a:latin typeface="Arial"/>
              </a:rPr>
              <a:t>DrugCentral</a:t>
            </a:r>
            <a:r>
              <a:rPr sz="1250" b="1" dirty="0">
                <a:solidFill>
                  <a:srgbClr val="B84343"/>
                </a:solidFill>
                <a:latin typeface="Arial"/>
              </a:rPr>
              <a:t> and </a:t>
            </a:r>
            <a:r>
              <a:rPr sz="1250" b="1" dirty="0" err="1">
                <a:solidFill>
                  <a:srgbClr val="B84343"/>
                </a:solidFill>
                <a:latin typeface="Arial"/>
              </a:rPr>
              <a:t>ChEMBL</a:t>
            </a:r>
            <a:r>
              <a:rPr sz="1250" b="1" dirty="0">
                <a:solidFill>
                  <a:srgbClr val="B84343"/>
                </a:solidFill>
                <a:latin typeface="Arial"/>
              </a:rPr>
              <a:t> independently—they arrive as one coupled input.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6594438"/>
            <a:ext cx="10908792" cy="152221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869" b="0" dirty="0">
                <a:solidFill>
                  <a:srgbClr val="5B6774"/>
                </a:solidFill>
                <a:latin typeface="Arial"/>
              </a:rPr>
              <a:t>Adding a new source field also requires changing the Harmonizer, rebuilding its export, and then rebuilding </a:t>
            </a:r>
            <a:r>
              <a:rPr lang="en-US" sz="869" b="0" dirty="0">
                <a:solidFill>
                  <a:srgbClr val="5B6774"/>
                </a:solidFill>
                <a:latin typeface="Arial"/>
              </a:rPr>
              <a:t>the graph</a:t>
            </a:r>
            <a:r>
              <a:rPr sz="869" b="0" dirty="0">
                <a:solidFill>
                  <a:srgbClr val="5B6774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246888"/>
            <a:ext cx="11228832" cy="4754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350" b="1">
                <a:solidFill>
                  <a:srgbClr val="142A43"/>
                </a:solidFill>
                <a:latin typeface="Arial"/>
              </a:rPr>
              <a:t>A better handoff preserves both harmonization and source independence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68096"/>
            <a:ext cx="1106424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300" b="0">
                <a:solidFill>
                  <a:srgbClr val="5B6774"/>
                </a:solidFill>
                <a:latin typeface="Arial"/>
              </a:rPr>
              <a:t>The problem is not harmonized data—it is using one combined export to replace independently ingestible sources.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841248" cy="36576"/>
          </a:xfrm>
          <a:prstGeom prst="rect">
            <a:avLst/>
          </a:prstGeom>
          <a:solidFill>
            <a:srgbClr val="158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4224528" cy="4462272"/>
          </a:xfrm>
          <a:prstGeom prst="roundRect">
            <a:avLst>
              <a:gd name="adj" fmla="val 7000"/>
            </a:avLst>
          </a:prstGeom>
          <a:solidFill>
            <a:srgbClr val="FAE8E6"/>
          </a:solidFill>
          <a:ln w="15875"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627632"/>
            <a:ext cx="3621024" cy="52120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500" b="1">
                <a:solidFill>
                  <a:srgbClr val="B84343"/>
                </a:solidFill>
                <a:latin typeface="Arial"/>
              </a:rPr>
              <a:t>WHEN A COMBINED EXPORT
REPLACES SOURCE ADAPTERS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338328" cy="338328"/>
          </a:xfrm>
          <a:prstGeom prst="ellipse">
            <a:avLst/>
          </a:prstGeom>
          <a:solidFill>
            <a:srgbClr val="B8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2446020"/>
            <a:ext cx="210312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386584"/>
            <a:ext cx="123444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20" b="1">
                <a:solidFill>
                  <a:srgbClr val="B84343"/>
                </a:solidFill>
                <a:latin typeface="Arial"/>
              </a:rPr>
              <a:t>Source choice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386584"/>
            <a:ext cx="1856231" cy="4023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80" b="0">
                <a:solidFill>
                  <a:srgbClr val="252D36"/>
                </a:solidFill>
                <a:latin typeface="Arial"/>
              </a:rPr>
              <a:t>Cannot independently include, exclude, or version each provider.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990088"/>
            <a:ext cx="338328" cy="338328"/>
          </a:xfrm>
          <a:prstGeom prst="ellipse">
            <a:avLst/>
          </a:prstGeom>
          <a:solidFill>
            <a:srgbClr val="B8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" y="3040380"/>
            <a:ext cx="210312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980944"/>
            <a:ext cx="123444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20" b="1">
                <a:solidFill>
                  <a:srgbClr val="B84343"/>
                </a:solidFill>
                <a:latin typeface="Arial"/>
              </a:rPr>
              <a:t>Audit 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2980944"/>
            <a:ext cx="1856231" cy="4023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80" b="0">
                <a:solidFill>
                  <a:srgbClr val="252D36"/>
                </a:solidFill>
                <a:latin typeface="Arial"/>
              </a:rPr>
              <a:t>Field ownership collapses into a single “Drug Harmonizer” source.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584448"/>
            <a:ext cx="338328" cy="338328"/>
          </a:xfrm>
          <a:prstGeom prst="ellipse">
            <a:avLst/>
          </a:prstGeom>
          <a:solidFill>
            <a:srgbClr val="B8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" y="3634740"/>
            <a:ext cx="210312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3575304"/>
            <a:ext cx="123444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20" b="1">
                <a:solidFill>
                  <a:srgbClr val="B84343"/>
                </a:solidFill>
                <a:latin typeface="Arial"/>
              </a:rPr>
              <a:t>Payload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3575304"/>
            <a:ext cx="1856231" cy="4023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80" b="0" dirty="0">
                <a:solidFill>
                  <a:srgbClr val="252D36"/>
                </a:solidFill>
                <a:latin typeface="Arial"/>
              </a:rPr>
              <a:t>Fields omitted upstream are unavailable to ODIN.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178808"/>
            <a:ext cx="338328" cy="338328"/>
          </a:xfrm>
          <a:prstGeom prst="ellipse">
            <a:avLst/>
          </a:prstGeom>
          <a:solidFill>
            <a:srgbClr val="B8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" y="4229100"/>
            <a:ext cx="210312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169664"/>
            <a:ext cx="123444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20" b="1">
                <a:solidFill>
                  <a:srgbClr val="B84343"/>
                </a:solidFill>
                <a:latin typeface="Arial"/>
              </a:rPr>
              <a:t>Change isolation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4169664"/>
            <a:ext cx="1856231" cy="4023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80" b="0">
                <a:solidFill>
                  <a:srgbClr val="252D36"/>
                </a:solidFill>
                <a:latin typeface="Arial"/>
              </a:rPr>
              <a:t>A source-field change requires another Harmonizer export.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413248"/>
            <a:ext cx="3547872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B84343"/>
                </a:solidFill>
                <a:latin typeface="Arial"/>
              </a:rPr>
              <a:t>Identity, payload, and graph policy become one release unit.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1435608"/>
            <a:ext cx="6647688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500" b="1">
                <a:solidFill>
                  <a:srgbClr val="142A43"/>
                </a:solidFill>
                <a:latin typeface="Arial"/>
              </a:rPr>
              <a:t>USE THE HARMONIZER OUTPUT TWO WAYS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4920" y="1874519"/>
            <a:ext cx="1847088" cy="1097280"/>
          </a:xfrm>
          <a:prstGeom prst="roundRect">
            <a:avLst>
              <a:gd name="adj" fmla="val 7000"/>
            </a:avLst>
          </a:prstGeom>
          <a:solidFill>
            <a:srgbClr val="FDF4E0"/>
          </a:solidFill>
          <a:ln w="15875">
            <a:solidFill>
              <a:srgbClr val="DD9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30368" y="2011680"/>
            <a:ext cx="1536192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DD992A"/>
                </a:solidFill>
                <a:latin typeface="Arial"/>
              </a:rPr>
              <a:t>HARMONIZER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0368" y="2295144"/>
            <a:ext cx="1536192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DD992A"/>
                </a:solidFill>
                <a:latin typeface="Arial"/>
              </a:rPr>
              <a:t>drug_ids.tsv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2633472"/>
            <a:ext cx="1536192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19" b="0">
                <a:solidFill>
                  <a:srgbClr val="5B6774"/>
                </a:solidFill>
                <a:latin typeface="Arial"/>
              </a:rPr>
              <a:t>IDs · scores · methods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1810512"/>
            <a:ext cx="1901952" cy="1152144"/>
          </a:xfrm>
          <a:prstGeom prst="roundRect">
            <a:avLst>
              <a:gd name="adj" fmla="val 7000"/>
            </a:avLst>
          </a:prstGeom>
          <a:solidFill>
            <a:srgbClr val="E2F6F2"/>
          </a:solidFill>
          <a:ln w="15875">
            <a:solidFill>
              <a:srgbClr val="15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79792" y="1975104"/>
            <a:ext cx="1572768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50" b="1">
                <a:solidFill>
                  <a:srgbClr val="158980"/>
                </a:solidFill>
                <a:latin typeface="Arial"/>
              </a:rPr>
              <a:t>ID RESOLVER — WHO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2386584"/>
            <a:ext cx="1572768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80" b="0">
                <a:solidFill>
                  <a:srgbClr val="252D36"/>
                </a:solidFill>
                <a:latin typeface="Arial"/>
              </a:rPr>
              <a:t>Source IDs → preferred ID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3218688"/>
            <a:ext cx="1901952" cy="1152144"/>
          </a:xfrm>
          <a:prstGeom prst="roundRect">
            <a:avLst>
              <a:gd name="adj" fmla="val 7000"/>
            </a:avLst>
          </a:prstGeom>
          <a:solidFill>
            <a:srgbClr val="F2EBF7"/>
          </a:solidFill>
          <a:ln w="15875">
            <a:solidFill>
              <a:srgbClr val="794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79792" y="3383280"/>
            <a:ext cx="1572768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>
                <a:solidFill>
                  <a:srgbClr val="794B9C"/>
                </a:solidFill>
                <a:latin typeface="Arial"/>
              </a:rPr>
              <a:t>HARMONIZER ADAPTER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9792" y="3794760"/>
            <a:ext cx="1572768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60" b="0">
                <a:solidFill>
                  <a:srgbClr val="252D36"/>
                </a:solidFill>
                <a:latin typeface="Arial"/>
              </a:rPr>
              <a:t>Scores · methods · decisions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74920" y="4553712"/>
            <a:ext cx="1847088" cy="1097280"/>
          </a:xfrm>
          <a:prstGeom prst="roundRect">
            <a:avLst>
              <a:gd name="adj" fmla="val 7000"/>
            </a:avLst>
          </a:prstGeom>
          <a:solidFill>
            <a:srgbClr val="E7F1F9"/>
          </a:solidFill>
          <a:ln w="15875">
            <a:solidFill>
              <a:srgbClr val="27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230368" y="4718304"/>
            <a:ext cx="1536192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2770AE"/>
                </a:solidFill>
                <a:latin typeface="Arial"/>
              </a:rPr>
              <a:t>PRIMARY SOURCES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0368" y="5047488"/>
            <a:ext cx="1536192" cy="42062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0">
                <a:solidFill>
                  <a:srgbClr val="252D36"/>
                </a:solidFill>
                <a:latin typeface="Arial"/>
              </a:rPr>
              <a:t>DrugCentral · ChEMBL
IUPHAR · others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4553712"/>
            <a:ext cx="1901952" cy="1097280"/>
          </a:xfrm>
          <a:prstGeom prst="roundRect">
            <a:avLst>
              <a:gd name="adj" fmla="val 7000"/>
            </a:avLst>
          </a:prstGeom>
          <a:solidFill>
            <a:srgbClr val="E7F1F9"/>
          </a:solidFill>
          <a:ln w="15875">
            <a:solidFill>
              <a:srgbClr val="27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79792" y="4718304"/>
            <a:ext cx="1572768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80" b="1">
                <a:solidFill>
                  <a:srgbClr val="2770AE"/>
                </a:solidFill>
                <a:latin typeface="Arial"/>
              </a:rPr>
              <a:t>SOURCE ADAPTERS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79792" y="5056632"/>
            <a:ext cx="1572768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50" b="0">
                <a:solidFill>
                  <a:srgbClr val="252D36"/>
                </a:solidFill>
                <a:latin typeface="Arial"/>
              </a:rPr>
              <a:t>Independent fields + evidence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46920" y="1920240"/>
            <a:ext cx="2084831" cy="3703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4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848088" y="2133918"/>
            <a:ext cx="1682496" cy="249299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142A43"/>
                </a:solidFill>
                <a:latin typeface="Arial"/>
              </a:rPr>
              <a:t>Output</a:t>
            </a:r>
            <a:r>
              <a:rPr sz="1500" b="1" dirty="0">
                <a:solidFill>
                  <a:srgbClr val="142A43"/>
                </a:solidFill>
                <a:latin typeface="Arial"/>
              </a:rPr>
              <a:t> GRAPH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48672" y="2679192"/>
            <a:ext cx="1481328" cy="548640"/>
          </a:xfrm>
          <a:prstGeom prst="roundRect">
            <a:avLst>
              <a:gd name="adj" fmla="val 7000"/>
            </a:avLst>
          </a:prstGeom>
          <a:solidFill>
            <a:srgbClr val="E2F6F2"/>
          </a:solidFill>
          <a:ln w="15875">
            <a:solidFill>
              <a:srgbClr val="15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067544" y="2825496"/>
            <a:ext cx="1243584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158980"/>
                </a:solidFill>
                <a:latin typeface="Arial"/>
              </a:rPr>
              <a:t>Preferred identity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48672" y="3456432"/>
            <a:ext cx="1481328" cy="731520"/>
          </a:xfrm>
          <a:prstGeom prst="roundRect">
            <a:avLst>
              <a:gd name="adj" fmla="val 7000"/>
            </a:avLst>
          </a:prstGeom>
          <a:solidFill>
            <a:srgbClr val="F2EBF7"/>
          </a:solidFill>
          <a:ln w="15875">
            <a:solidFill>
              <a:srgbClr val="794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067544" y="3575304"/>
            <a:ext cx="1243584" cy="4572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80" b="1">
                <a:solidFill>
                  <a:srgbClr val="794B9C"/>
                </a:solidFill>
                <a:latin typeface="Arial"/>
              </a:rPr>
              <a:t>Harmonizer scores
+ methods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48672" y="4425696"/>
            <a:ext cx="1481328" cy="832104"/>
          </a:xfrm>
          <a:prstGeom prst="roundRect">
            <a:avLst>
              <a:gd name="adj" fmla="val 7000"/>
            </a:avLst>
          </a:prstGeom>
          <a:solidFill>
            <a:srgbClr val="E7F1F9"/>
          </a:solidFill>
          <a:ln w="15875">
            <a:solidFill>
              <a:srgbClr val="277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067544" y="4572000"/>
            <a:ext cx="1243584" cy="5120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80" b="1">
                <a:solidFill>
                  <a:srgbClr val="2770AE"/>
                </a:solidFill>
                <a:latin typeface="Arial"/>
              </a:rPr>
              <a:t>Primary-source fields
+ provenance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958584" y="2194560"/>
            <a:ext cx="320040" cy="0"/>
          </a:xfrm>
          <a:prstGeom prst="line">
            <a:avLst/>
          </a:prstGeom>
          <a:ln w="30480">
            <a:solidFill>
              <a:srgbClr val="15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647688" y="2990088"/>
            <a:ext cx="630936" cy="694944"/>
          </a:xfrm>
          <a:prstGeom prst="line">
            <a:avLst/>
          </a:prstGeom>
          <a:ln w="30480">
            <a:solidFill>
              <a:srgbClr val="794B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958584" y="5102352"/>
            <a:ext cx="320040" cy="0"/>
          </a:xfrm>
          <a:prstGeom prst="line">
            <a:avLst/>
          </a:prstGeom>
          <a:ln w="30480">
            <a:solidFill>
              <a:srgbClr val="277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253728" y="2386584"/>
            <a:ext cx="356616" cy="557784"/>
          </a:xfrm>
          <a:prstGeom prst="line">
            <a:avLst/>
          </a:prstGeom>
          <a:ln w="30480">
            <a:solidFill>
              <a:srgbClr val="158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253728" y="3794760"/>
            <a:ext cx="356616" cy="9144"/>
          </a:xfrm>
          <a:prstGeom prst="line">
            <a:avLst/>
          </a:prstGeom>
          <a:ln w="30480">
            <a:solidFill>
              <a:srgbClr val="794B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253728" y="4828032"/>
            <a:ext cx="356616" cy="274320"/>
          </a:xfrm>
          <a:prstGeom prst="line">
            <a:avLst/>
          </a:prstGeom>
          <a:ln w="30480">
            <a:solidFill>
              <a:srgbClr val="2770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02920" y="6144768"/>
            <a:ext cx="11228832" cy="457200"/>
          </a:xfrm>
          <a:prstGeom prst="roundRect">
            <a:avLst>
              <a:gd name="adj" fmla="val 7000"/>
            </a:avLst>
          </a:prstGeom>
          <a:solidFill>
            <a:srgbClr val="E2F6F2"/>
          </a:solidFill>
          <a:ln w="15875">
            <a:solidFill>
              <a:srgbClr val="158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1520" y="6251116"/>
            <a:ext cx="10771632" cy="22621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50" b="1" dirty="0">
                <a:solidFill>
                  <a:srgbClr val="158980"/>
                </a:solidFill>
                <a:latin typeface="Arial"/>
              </a:rPr>
              <a:t>Harmonizer decides identity. </a:t>
            </a:r>
            <a:r>
              <a:rPr lang="en-US" sz="1350" b="1" dirty="0">
                <a:solidFill>
                  <a:srgbClr val="158980"/>
                </a:solidFill>
                <a:latin typeface="Arial"/>
              </a:rPr>
              <a:t>The graph builder</a:t>
            </a:r>
            <a:r>
              <a:rPr sz="1350" b="1" dirty="0">
                <a:solidFill>
                  <a:srgbClr val="158980"/>
                </a:solidFill>
                <a:latin typeface="Arial"/>
              </a:rPr>
              <a:t> decides graph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900</Words>
  <Application>Microsoft Macintosh PowerPoint</Application>
  <PresentationFormat>Widescreen</PresentationFormat>
  <Paragraphs>223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ODIN separates adapters from ID resolvers</dc:title>
  <dc:subject/>
  <dc:creator>IFX_ODIN</dc:creator>
  <cp:keywords/>
  <dc:description>generated using python-pptx</dc:description>
  <cp:lastModifiedBy>Kelleher, Keith (NIH/NCATS) [E]</cp:lastModifiedBy>
  <cp:revision>3</cp:revision>
  <dcterms:created xsi:type="dcterms:W3CDTF">2013-01-27T09:14:16Z</dcterms:created>
  <dcterms:modified xsi:type="dcterms:W3CDTF">2026-09-14T16:02:53Z</dcterms:modified>
  <cp:category/>
</cp:coreProperties>
</file>